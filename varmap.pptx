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2" autoAdjust="0"/>
    <p:restoredTop sz="94610"/>
  </p:normalViewPr>
  <p:slideViewPr>
    <p:cSldViewPr snapToGrid="0" snapToObjects="1">
      <p:cViewPr>
        <p:scale>
          <a:sx n="92" d="100"/>
          <a:sy n="92" d="100"/>
        </p:scale>
        <p:origin x="48" y="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(ms)</c:v>
                </c:pt>
              </c:strCache>
            </c:strRef>
          </c:tx>
          <c:spPr>
            <a:solidFill>
              <a:srgbClr val="CE5A1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B1E"/>
                    </a:solidFill>
                    <a:latin typeface="Consola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EnumVarMap</c:v>
                </c:pt>
                <c:pt idx="1">
                  <c:v>VarMap</c:v>
                </c:pt>
                <c:pt idx="2">
                  <c:v>HashMap</c:v>
                </c:pt>
                <c:pt idx="3">
                  <c:v>StrVarMap</c:v>
                </c:pt>
                <c:pt idx="4">
                  <c:v>BTreeMap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</c:v>
                </c:pt>
                <c:pt idx="1">
                  <c:v>59</c:v>
                </c:pt>
                <c:pt idx="2">
                  <c:v>58</c:v>
                </c:pt>
                <c:pt idx="3">
                  <c:v>85</c:v>
                </c:pt>
                <c:pt idx="4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46-427C-8E2B-42687DF716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B1E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(ms)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B1E"/>
                    </a:solidFill>
                    <a:latin typeface="Consola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EnumVarMap</c:v>
                </c:pt>
                <c:pt idx="1">
                  <c:v>VarMap</c:v>
                </c:pt>
                <c:pt idx="2">
                  <c:v>HashMap</c:v>
                </c:pt>
                <c:pt idx="3">
                  <c:v>StrVarMap</c:v>
                </c:pt>
                <c:pt idx="4">
                  <c:v>BTreeMap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35</c:v>
                </c:pt>
                <c:pt idx="2">
                  <c:v>52</c:v>
                </c:pt>
                <c:pt idx="3">
                  <c:v>54</c:v>
                </c:pt>
                <c:pt idx="4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05-4368-AA20-4F289DE1AE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B1E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(ms)</c:v>
                </c:pt>
              </c:strCache>
            </c:strRef>
          </c:tx>
          <c:spPr>
            <a:solidFill>
              <a:srgbClr val="CE5A1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B1E"/>
                    </a:solidFill>
                    <a:latin typeface="Consola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EnumVarMap</c:v>
                </c:pt>
                <c:pt idx="1">
                  <c:v>VarMap</c:v>
                </c:pt>
                <c:pt idx="2">
                  <c:v>StrVarMap</c:v>
                </c:pt>
                <c:pt idx="3">
                  <c:v>HashMap</c:v>
                </c:pt>
                <c:pt idx="4">
                  <c:v>BTreeMap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</c:v>
                </c:pt>
                <c:pt idx="1">
                  <c:v>74</c:v>
                </c:pt>
                <c:pt idx="2">
                  <c:v>90</c:v>
                </c:pt>
                <c:pt idx="3">
                  <c:v>175</c:v>
                </c:pt>
                <c:pt idx="4">
                  <c:v>258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C2-4BD7-81A1-DF45E629F4F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B1E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(ms)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B1E"/>
                    </a:solidFill>
                    <a:latin typeface="Consola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EnumVarMap</c:v>
                </c:pt>
                <c:pt idx="1">
                  <c:v>VarMap</c:v>
                </c:pt>
                <c:pt idx="2">
                  <c:v>StrVarMap</c:v>
                </c:pt>
                <c:pt idx="3">
                  <c:v>HashMap</c:v>
                </c:pt>
                <c:pt idx="4">
                  <c:v>BTreeMap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</c:v>
                </c:pt>
                <c:pt idx="1">
                  <c:v>75</c:v>
                </c:pt>
                <c:pt idx="2">
                  <c:v>92</c:v>
                </c:pt>
                <c:pt idx="3">
                  <c:v>174</c:v>
                </c:pt>
                <c:pt idx="4">
                  <c:v>255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AB-4A13-9599-12C8B46472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B1E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045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varmap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heterogeneous key–value maps for Rust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Gavrilut Dragos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937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E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3–5×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5715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HashMap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4937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E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B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0" y="5715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value, fixed cell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21040" y="4937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E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65 536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8321040" y="5715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keys per map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84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crates.io/crates/varmap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E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Storing mixed-type values under one 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Existing options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303520" cy="685800"/>
          </a:xfrm>
          <a:prstGeom prst="rect">
            <a:avLst/>
          </a:prstGeom>
          <a:solidFill>
            <a:srgbClr val="F5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54864" cy="68580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2494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HashMap&lt;K, V&gt;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value type only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5303520" cy="685800"/>
          </a:xfrm>
          <a:prstGeom prst="rect">
            <a:avLst/>
          </a:prstGeom>
          <a:solidFill>
            <a:srgbClr val="F5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54864" cy="68580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1181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HashMap&lt;K, Any&gt;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boxing + dynamic dispatch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5303520" cy="685800"/>
          </a:xfrm>
          <a:prstGeom prst="rect">
            <a:avLst/>
          </a:prstGeom>
          <a:solidFill>
            <a:srgbClr val="F5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54864" cy="68580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986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enum-keyed maps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values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5303520" cy="685800"/>
          </a:xfrm>
          <a:prstGeom prst="rect">
            <a:avLst/>
          </a:prstGeom>
          <a:solidFill>
            <a:srgbClr val="F5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4800600"/>
            <a:ext cx="54864" cy="68580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8554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anymap / typemap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by type, not name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want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09360" y="2395728"/>
            <a:ext cx="256032" cy="256032"/>
          </a:xfrm>
          <a:prstGeom prst="ellipse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9360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20840" y="2331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→ typed value (bool, ints, &amp;str, &amp;[u8], structs)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0" y="3264408"/>
            <a:ext cx="256032" cy="256032"/>
          </a:xfrm>
          <a:prstGeom prst="ellipse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09360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20840" y="3200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reads — &amp;str and &amp;[u8] borrowed from arena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4133088"/>
            <a:ext cx="256032" cy="256032"/>
          </a:xfrm>
          <a:prstGeom prst="ellipse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0936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20840" y="4069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keys when possible (no runtime hashing)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09360" y="5001768"/>
            <a:ext cx="256032" cy="256032"/>
          </a:xfrm>
          <a:prstGeom prst="ellipse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09360" y="5001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4937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HashMap on read-heavy workloads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varmap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E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maps, one value layer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20440" cy="1371600"/>
          </a:xfrm>
          <a:prstGeom prst="rect">
            <a:avLst/>
          </a:prstGeom>
          <a:solidFill>
            <a:srgbClr val="2A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520440" cy="73152"/>
          </a:xfrm>
          <a:prstGeom prst="rect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EnumVarMap&lt;E&gt;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1214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84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enum variant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fastest, fixed slots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554480"/>
            <a:ext cx="3520440" cy="1371600"/>
          </a:xfrm>
          <a:prstGeom prst="rect">
            <a:avLst/>
          </a:prstGeom>
          <a:solidFill>
            <a:srgbClr val="2A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34840" y="1554480"/>
            <a:ext cx="3520440" cy="73152"/>
          </a:xfrm>
          <a:prstGeom prst="rect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16916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VarMap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21214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84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compile-time hash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2468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runtime hashing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0" y="1554480"/>
            <a:ext cx="3520440" cy="1371600"/>
          </a:xfrm>
          <a:prstGeom prst="rect">
            <a:avLst/>
          </a:prstGeom>
          <a:solidFill>
            <a:srgbClr val="2A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12480" y="1554480"/>
            <a:ext cx="3520440" cy="73152"/>
          </a:xfrm>
          <a:prstGeom prst="rect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95360" y="16916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StrVarMap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95360" y="21214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84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runtime &amp;str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0" y="2468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keys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12848" y="2971800"/>
            <a:ext cx="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90488" y="2971800"/>
            <a:ext cx="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168128" y="2971800"/>
            <a:ext cx="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11247120" cy="1005840"/>
          </a:xfrm>
          <a:prstGeom prst="rect">
            <a:avLst/>
          </a:prstGeom>
          <a:solidFill>
            <a:srgbClr val="F5F5F4"/>
          </a:solidFill>
          <a:ln w="12700">
            <a:solidFill>
              <a:srgbClr val="E5E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584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value layer — 16-byte tagged ValueKind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395020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· I8…I64 · U8…U64 · F32 · F64 · SmallString(≤14B) · SmallBytes(≤14B) · ArenaIndex for strings/bytes/i128/u128/custom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4526280"/>
            <a:ext cx="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solidFill>
            <a:srgbClr val="1A1B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5029200"/>
            <a:ext cx="73152" cy="1097280"/>
          </a:xfrm>
          <a:prstGeom prst="rect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" y="5166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Arena (Vec&lt;u128&gt;, append-only between clear())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1520" y="5532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large strings, byte slices, i128/u128, and custom Copy types. Reads return borrowed slices — no copy.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varmap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E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API, mixed value types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E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StrVarMap — runtime string keys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577840" cy="4114800"/>
          </a:xfrm>
          <a:prstGeom prst="rect">
            <a:avLst/>
          </a:prstGeom>
          <a:solidFill>
            <a:srgbClr val="2A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73152" cy="4114800"/>
          </a:xfrm>
          <a:prstGeom prst="rect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varmap::StrVarMap;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mut map = StrVarMap::new();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map.set("port", 8080u16);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map.set("enabled", true);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map.set("host", "api.example.com");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assert_eq!(map.get_u16("port"),    Some(8080));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assert_eq!(map.get_bool("enabled"), Some(true));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assert_eq!(map.get_str("host"),    Some("api.example.com"));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E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VarMap + var! — compile-time keys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94960" cy="4114800"/>
          </a:xfrm>
          <a:prstGeom prst="rect">
            <a:avLst/>
          </a:prstGeom>
          <a:solidFill>
            <a:srgbClr val="2A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73152" cy="4114800"/>
          </a:xfrm>
          <a:prstGeom prst="rect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19202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varmap::{VarMap, var};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mut map = VarMap::new();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var!() hashes at compile time — no runtime FNV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map.set(var!("user.age"),  32u32);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map.set(var!("user.name"), "Alice");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age:  u32  = map.get(var!("user.age")).unwrap();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name: &amp;str = map.get(var!("user.name")).unwrap();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solidFill>
            <a:srgbClr val="F5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value layer — switch maps without rewriting your getters.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varmap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E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 key sets and custom types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E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EnumVarMap — O(1) direct indexing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577840" cy="4114800"/>
          </a:xfrm>
          <a:prstGeom prst="rect">
            <a:avLst/>
          </a:prstGeom>
          <a:solidFill>
            <a:srgbClr val="2A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73152" cy="4114800"/>
          </a:xfrm>
          <a:prstGeom prst="rect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varmap::{EnumVarMap, EnumVarMapKey};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#[derive(EnumVarMap, Copy, Clone, Debug)]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#[repr(u16)]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ConfigKey { Port, Enabled, Host 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mut m = EnumVarMap::&lt;ConfigKey&gt;::new();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m.set(ConfigKey::Port,    8080u16);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m.set(ConfigKey::Enabled, true);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m.set(ConfigKey::Host,    "api.example.com");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O(1) — direct array index, no hashing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 = m.get_u16(ConfigKey::Port);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E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Copy types via #[derive(VarMapValue)]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94960" cy="4114800"/>
          </a:xfrm>
          <a:prstGeom prst="rect">
            <a:avLst/>
          </a:prstGeom>
          <a:solidFill>
            <a:srgbClr val="2A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73152" cy="4114800"/>
          </a:xfrm>
          <a:prstGeom prst="rect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19202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varmap::{StrVarMap, VarMapValue};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#[derive(VarMapValue, Copy, Clone, Debug)]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Point { x: i32, y: i32 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mut m = StrVarMap::new();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m.set("origin", Point { x: 1, y: 2 });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Zero-copy: returns &amp;Point from the arena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p: &amp;Point = m.get("origin").unwrap();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assert_eq!(p.x, 1);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solidFill>
            <a:srgbClr val="F5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Copy + alignment 1–16. Strings, byte slices, and i128/u128 land in the arena automatically.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varmap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E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benchmarks — the sweet spot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— large strings (ms, lower is better)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83080"/>
          <a:ext cx="55778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— small strings (ms, lower is better)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309360" y="1783080"/>
          <a:ext cx="53949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solidFill>
            <a:srgbClr val="F5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40080" y="61996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iterations × 256 keys. EnumVarMap: ~5× faster than HashMap on small-string reads.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varmap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E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benchmarks — clear &amp; repopulate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— large strings (ms, lower is better)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83080"/>
          <a:ext cx="55778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— small strings (ms, lower is better)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309360" y="1783080"/>
          <a:ext cx="53949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solidFill>
            <a:srgbClr val="F5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40080" y="61996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varmap types beat HashMap and BTreeMap, even on writes.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varmap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E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GUIDE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Choosing the right 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251960" y="1554480"/>
            <a:ext cx="3657600" cy="640080"/>
          </a:xfrm>
          <a:prstGeom prst="rect">
            <a:avLst/>
          </a:prstGeom>
          <a:solidFill>
            <a:srgbClr val="1A1B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5196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 key names known at compile time?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2194560"/>
            <a:ext cx="0" cy="7315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0" y="22128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E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37360" y="2926080"/>
            <a:ext cx="3657600" cy="640080"/>
          </a:xfrm>
          <a:prstGeom prst="rect">
            <a:avLst/>
          </a:prstGeom>
          <a:solidFill>
            <a:srgbClr val="1A1B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37360" y="2926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the key set a closed enum?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3566160"/>
            <a:ext cx="0" cy="9144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63040" y="3794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E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3566160"/>
            <a:ext cx="1874520" cy="9144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3794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E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2194560"/>
            <a:ext cx="4343400" cy="22860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46720" y="22128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E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480560"/>
            <a:ext cx="2743200" cy="1280160"/>
          </a:xfrm>
          <a:prstGeom prst="rect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4572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EnumVarMap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65760" y="5166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fastest, O(1)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4480560"/>
            <a:ext cx="2743200" cy="1280160"/>
          </a:xfrm>
          <a:prstGeom prst="rect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4572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VarMap + var!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709160" y="5166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hash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52560" y="4480560"/>
            <a:ext cx="2743200" cy="1280160"/>
          </a:xfrm>
          <a:prstGeom prst="rect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52560" y="4572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StrVarMap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052560" y="5166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strings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varmap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E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Tradeoffs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94960" cy="2194560"/>
          </a:xfrm>
          <a:prstGeom prst="rect">
            <a:avLst/>
          </a:prstGeom>
          <a:solidFill>
            <a:srgbClr val="F5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73152" cy="2194560"/>
          </a:xfrm>
          <a:prstGeom prst="rect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65 536-key ceiling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index is 16-bit. Plenty for config / per-request state; not for unbounded sets.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2194560"/>
          </a:xfrm>
          <a:prstGeom prst="rect">
            <a:avLst/>
          </a:prstGeom>
          <a:solidFill>
            <a:srgbClr val="F5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73152" cy="2194560"/>
          </a:xfrm>
          <a:prstGeom prst="rect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1737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Arena is append-only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3317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Overwriting an arena-backed key (long string / bytes / custom) does not reclaim the old slot. Use clear() between snapshots.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394960" cy="2194560"/>
          </a:xfrm>
          <a:prstGeom prst="rect">
            <a:avLst/>
          </a:prstGeom>
          <a:solidFill>
            <a:srgbClr val="F5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73152" cy="2194560"/>
          </a:xfrm>
          <a:prstGeom prst="rect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 collisions are silent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VarMap uses FNV-1a; the top 48 bits identify the key. Statistically safe under 65k keys, but undetectable at runtime.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931920"/>
            <a:ext cx="5394960" cy="2194560"/>
          </a:xfrm>
          <a:prstGeom prst="rect">
            <a:avLst/>
          </a:prstGeom>
          <a:solidFill>
            <a:srgbClr val="F5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0" y="3931920"/>
            <a:ext cx="73152" cy="2194560"/>
          </a:xfrm>
          <a:prstGeom prst="rect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0" y="4114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types: Copy only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83680" y="47091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#[derive(VarMapValue)] requires Copy + alignment 1–16 + no generics. No Drop, no heap-owning fields.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varmap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CE5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STARTED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varmap today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solidFill>
            <a:srgbClr val="1A1B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73152" cy="1005840"/>
          </a:xfrm>
          <a:prstGeom prst="rect">
            <a:avLst/>
          </a:prstGeom>
          <a:solidFill>
            <a:srgbClr val="CE5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60604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[dependencies]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varmap = "0.1"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84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crates.io/crates/varmap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4572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84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docs.rs/varmap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5212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5212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84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github.com/gdt050579/varmap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MIT-licensed · no_std-friendly value layer · 16-byte cells · arena-backed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USAGE | In-place updates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All map types support in-place mutation via update::&lt;T&gt;(key, |v| ...).</a:t>
            </a:r>
          </a:p>
          <a:p>
            <a:pPr>
              <a:defRPr sz="2000"/>
            </a:pPr>
            <a:r>
              <a:t>StrVarMap: m.update::&lt;u16&gt;("port", |v| *v += 1);</a:t>
            </a:r>
          </a:p>
          <a:p>
            <a:pPr>
              <a:defRPr sz="2000"/>
            </a:pPr>
            <a:r>
              <a:t>VarMap + var!: m.update::&lt;u32&gt;(var!("user.age"), |v| *v += 1);</a:t>
            </a:r>
          </a:p>
          <a:p>
            <a:pPr>
              <a:defRPr sz="2000"/>
            </a:pPr>
            <a:r>
              <a:t>EnumVarMap: m.update::&lt;bool&gt;(ConfigKey::Enabled, |v| *v = !*v);</a:t>
            </a:r>
          </a:p>
          <a:p>
            <a:pPr>
              <a:defRPr sz="2000"/>
            </a:pPr>
            <a:r>
              <a:t>For custom #[derive(VarMapValue)] types, update mutates the arena-backed value directly.</a:t>
            </a:r>
          </a:p>
          <a:p>
            <a:pPr>
              <a:defRPr sz="2000"/>
            </a:pPr>
            <a:r>
              <a:t>Update returns false when key is missing or stored type mismatches.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995</Words>
  <Application>Microsoft Office PowerPoint</Application>
  <PresentationFormat>Widescreen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varmap — fast heterogeneous key-value maps for Rust</dc:title>
  <dc:subject>PptxGenJS Presentation</dc:subject>
  <dc:creator>varmap</dc:creator>
  <cp:lastModifiedBy>Gavrilut Dragos</cp:lastModifiedBy>
  <cp:revision>3</cp:revision>
  <dcterms:created xsi:type="dcterms:W3CDTF">2026-05-26T21:23:30Z</dcterms:created>
  <dcterms:modified xsi:type="dcterms:W3CDTF">2026-05-27T06:11:18Z</dcterms:modified>
</cp:coreProperties>
</file>